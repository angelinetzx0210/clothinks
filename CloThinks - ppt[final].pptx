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16"/>
    <p:restoredTop sz="94595"/>
  </p:normalViewPr>
  <p:slideViewPr>
    <p:cSldViewPr snapToGrid="0" snapToObjects="1">
      <p:cViewPr varScale="1">
        <p:scale>
          <a:sx n="89" d="100"/>
          <a:sy n="89" d="100"/>
        </p:scale>
        <p:origin x="5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9AE76-09AC-DF42-8F2D-0682C6E2DAD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85D1B-A7B1-9C4B-873E-D2022CC06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7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85D1B-A7B1-9C4B-873E-D2022CC065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54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6B9D">
                  <a:alpha val="85000"/>
                </a:srgbClr>
              </a:gs>
              <a:gs pos="100000">
                <a:srgbClr val="00BCD4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43574" y="952501"/>
            <a:ext cx="904852" cy="419100"/>
          </a:xfrm>
          <a:prstGeom prst="roundRect">
            <a:avLst>
              <a:gd name="adj" fmla="val 454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72168" y="1028702"/>
            <a:ext cx="44766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8679" y="2040532"/>
            <a:ext cx="5404813" cy="9671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590"/>
              </a:lnSpc>
              <a:spcBef>
                <a:spcPts val="0"/>
              </a:spcBef>
              <a:spcAft>
                <a:spcPts val="2080"/>
              </a:spcAft>
            </a:pPr>
            <a:r>
              <a:rPr sz="960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 Light" panose="020F0302020204030204" pitchFamily="34" charset="0"/>
              </a:rPr>
              <a:t>CloThinks</a:t>
            </a:r>
            <a:endParaRPr sz="9600" dirty="0">
              <a:solidFill>
                <a:srgbClr val="FFFFFF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 Light" panose="020F03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81470" y="3238500"/>
            <a:ext cx="1828754" cy="381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8680" y="3480137"/>
            <a:ext cx="5404812" cy="105977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1560"/>
              </a:spcAft>
            </a:pPr>
            <a:r>
              <a:rPr sz="2800" b="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AI-Driven Inventory Intelligence</a:t>
            </a:r>
            <a:r>
              <a:rPr dirty="0">
                <a:latin typeface="Baskerville" panose="02020502070401020303" pitchFamily="18" charset="0"/>
                <a:ea typeface="Baskerville" panose="02020502070401020303" pitchFamily="18" charset="0"/>
              </a:rPr>
              <a:t>
</a:t>
            </a:r>
            <a:r>
              <a:rPr sz="2800" b="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for SME Fashion Retailers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76658" y="4895849"/>
            <a:ext cx="2828854" cy="495299"/>
          </a:xfrm>
          <a:prstGeom prst="roundRect">
            <a:avLst>
              <a:gd name="adj" fmla="val 30769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450" y="5039139"/>
            <a:ext cx="266693" cy="2087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50358" y="4978358"/>
            <a:ext cx="1662443" cy="3302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UMHackathon</a:t>
            </a:r>
            <a:r>
              <a:rPr sz="1400" b="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2026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7648" y="6387913"/>
            <a:ext cx="190495" cy="14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42037" y="6323490"/>
            <a:ext cx="1564787" cy="268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umhackathon@um.edu.my</a:t>
            </a:r>
            <a:endParaRPr sz="1000" b="0" dirty="0">
              <a:solidFill>
                <a:srgbClr val="FFFFFF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gradFill rotWithShape="1">
            <a:gsLst>
              <a:gs pos="0">
                <a:srgbClr val="FF6B9D"/>
              </a:gs>
              <a:gs pos="100000">
                <a:srgbClr val="00BC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559027"/>
            <a:ext cx="761980" cy="5776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0271" y="2786485"/>
            <a:ext cx="4221540" cy="7135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560"/>
              </a:spcAft>
            </a:pPr>
            <a:r>
              <a:rPr sz="4000" b="1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Table of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" y="4133849"/>
            <a:ext cx="914377" cy="381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584" y="4619729"/>
            <a:ext cx="3657508" cy="6284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Discover how CloThinks transforms fashion retail through AI-powered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262" y="1276350"/>
            <a:ext cx="2933626" cy="1447800"/>
          </a:xfrm>
          <a:prstGeom prst="roundRect">
            <a:avLst>
              <a:gd name="adj" fmla="val 10526"/>
            </a:avLst>
          </a:prstGeom>
          <a:solidFill>
            <a:srgbClr val="FF6B9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76758" y="146684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F6B9D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71093" y="1549134"/>
            <a:ext cx="39780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540" y="1434385"/>
            <a:ext cx="1223155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2540" y="1787607"/>
            <a:ext cx="1866853" cy="5014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Problem statement and proposed 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8483" y="1276350"/>
            <a:ext cx="2933626" cy="1447800"/>
          </a:xfrm>
          <a:prstGeom prst="roundRect">
            <a:avLst>
              <a:gd name="adj" fmla="val 10526"/>
            </a:avLst>
          </a:prstGeom>
          <a:solidFill>
            <a:srgbClr val="00BC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838979" y="146684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00BC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6465" y="1549134"/>
            <a:ext cx="39780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1" y="1452318"/>
            <a:ext cx="1866853" cy="56246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lang="en-MY" sz="1400" b="1" dirty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Background &amp; Objective</a:t>
            </a:r>
            <a:endParaRPr sz="1400" b="1" dirty="0">
              <a:solidFill>
                <a:srgbClr val="00BCD4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24761" y="2070023"/>
            <a:ext cx="1866853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666666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Our story and business 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262" y="2952750"/>
            <a:ext cx="2933626" cy="1447800"/>
          </a:xfrm>
          <a:prstGeom prst="roundRect">
            <a:avLst>
              <a:gd name="adj" fmla="val 10526"/>
            </a:avLst>
          </a:prstGeom>
          <a:solidFill>
            <a:srgbClr val="00BC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76758" y="314325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00BC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42518" y="3225535"/>
            <a:ext cx="39780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2540" y="3110786"/>
            <a:ext cx="1566326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Product Purpose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2540" y="3565030"/>
            <a:ext cx="1866853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Main goal and target users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8483" y="2952750"/>
            <a:ext cx="2933626" cy="1447800"/>
          </a:xfrm>
          <a:prstGeom prst="roundRect">
            <a:avLst>
              <a:gd name="adj" fmla="val 10526"/>
            </a:avLst>
          </a:prstGeom>
          <a:solidFill>
            <a:srgbClr val="FF6B9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838979" y="314325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F6B9D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26941" y="3225535"/>
            <a:ext cx="39780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4761" y="3128719"/>
            <a:ext cx="1791709" cy="56246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400" b="1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System Functionalities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4761" y="3831729"/>
            <a:ext cx="1866853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Key features and capabilities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262" y="4629150"/>
            <a:ext cx="2933626" cy="952499"/>
          </a:xfrm>
          <a:prstGeom prst="roundRect">
            <a:avLst>
              <a:gd name="adj" fmla="val 16000"/>
            </a:avLst>
          </a:prstGeom>
          <a:solidFill>
            <a:srgbClr val="FF6B9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76758" y="481965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F6B9D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64720" y="4901935"/>
            <a:ext cx="39780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2540" y="4787186"/>
            <a:ext cx="1189685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User Stories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2540" y="5127130"/>
            <a:ext cx="1263423" cy="2994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Real-world use cases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8483" y="4629150"/>
            <a:ext cx="2933626" cy="952499"/>
          </a:xfrm>
          <a:prstGeom prst="roundRect">
            <a:avLst>
              <a:gd name="adj" fmla="val 16000"/>
            </a:avLst>
          </a:prstGeom>
          <a:solidFill>
            <a:srgbClr val="00BC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838979" y="481965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00BC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36465" y="4901935"/>
            <a:ext cx="39780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4761" y="4787186"/>
            <a:ext cx="1791709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400" b="1" dirty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Features &amp; Benefits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4761" y="5127130"/>
            <a:ext cx="1034194" cy="2994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What we deliver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gradFill rotWithShape="1">
            <a:gsLst>
              <a:gs pos="0">
                <a:srgbClr val="FF6B9D"/>
              </a:gs>
              <a:gs pos="100000">
                <a:srgbClr val="00BC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66853" y="2101919"/>
            <a:ext cx="1142971" cy="8634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0293" y="3396086"/>
            <a:ext cx="3516092" cy="7135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040"/>
              </a:spcAft>
            </a:pPr>
            <a:r>
              <a:rPr sz="4400" b="1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150" y="4248150"/>
            <a:ext cx="914377" cy="381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9074" y="4560580"/>
            <a:ext cx="3518528" cy="365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Transforming Fashion Retail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262" y="76581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6B9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0559" y="901541"/>
            <a:ext cx="228594" cy="1857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5847" y="716311"/>
            <a:ext cx="2483180" cy="38093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1135381"/>
            <a:ext cx="5486262" cy="171527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en-MY" sz="1600" b="1" dirty="0">
                <a:solidFill>
                  <a:srgbClr val="0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Fashion SMEs lose profit due to poor inventory decisions</a:t>
            </a:r>
            <a:endParaRPr lang="en-MY" sz="1600" b="1" dirty="0">
              <a:solidFill>
                <a:srgbClr val="4A4A4A"/>
              </a:solidFill>
              <a:effectLst/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285750" indent="-285750">
              <a:lnSpc>
                <a:spcPts val="2080"/>
              </a:lnSpc>
              <a:buFont typeface="Courier New" panose="02070309020205020404" pitchFamily="49" charset="0"/>
              <a:buChar char="o"/>
            </a:pPr>
            <a:r>
              <a:rPr lang="en-MY" sz="1600" dirty="0">
                <a:solidFill>
                  <a:srgbClr val="0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Heavy r</a:t>
            </a:r>
            <a:r>
              <a:rPr lang="en-MY" sz="1600" dirty="0">
                <a:solidFill>
                  <a:srgbClr val="0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eliance on intuition and fragmented data leads to overstocking, deadstock, and missed sales opportunities.</a:t>
            </a:r>
          </a:p>
          <a:p>
            <a:pPr marL="285750" indent="-285750">
              <a:lnSpc>
                <a:spcPts val="2080"/>
              </a:lnSpc>
              <a:buFont typeface="Courier New" panose="02070309020205020404" pitchFamily="49" charset="0"/>
              <a:buChar char="o"/>
            </a:pPr>
            <a:endParaRPr lang="en-MY" sz="1600" dirty="0">
              <a:solidFill>
                <a:srgbClr val="000000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>
              <a:lnSpc>
                <a:spcPts val="2080"/>
              </a:lnSpc>
            </a:pPr>
            <a:r>
              <a:rPr lang="en-MY" sz="1600" b="1" dirty="0">
                <a:solidFill>
                  <a:srgbClr val="0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Lack of analytical tools </a:t>
            </a:r>
          </a:p>
          <a:p>
            <a:pPr marL="285750" indent="-285750">
              <a:lnSpc>
                <a:spcPts val="2080"/>
              </a:lnSpc>
              <a:buFont typeface="Courier New" panose="02070309020205020404" pitchFamily="49" charset="0"/>
              <a:buChar char="o"/>
            </a:pPr>
            <a:r>
              <a:rPr lang="en-MY" sz="1600" dirty="0">
                <a:solidFill>
                  <a:srgbClr val="0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Current systems do not provide actionable insights</a:t>
            </a:r>
            <a:endParaRPr lang="en-MY" sz="1600" dirty="0">
              <a:solidFill>
                <a:srgbClr val="000000"/>
              </a:solidFill>
              <a:effectLst/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262" y="29146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0BC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559" y="305466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5847" y="2876581"/>
            <a:ext cx="1975028" cy="38093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 dirty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Target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3265180"/>
            <a:ext cx="5030031" cy="365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AI-driven Inventory Intelligence for SME Fashion Retailers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262" y="42100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6B9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0559" y="4341495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5847" y="4171083"/>
            <a:ext cx="2113014" cy="3827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Proposed 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7" y="4591050"/>
            <a:ext cx="1933526" cy="419100"/>
          </a:xfrm>
          <a:prstGeom prst="roundRect">
            <a:avLst>
              <a:gd name="adj" fmla="val 45450000"/>
            </a:avLst>
          </a:prstGeom>
          <a:solidFill>
            <a:srgbClr val="00BC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70368" y="4622474"/>
            <a:ext cx="1546385" cy="3302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Real-time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3671" y="4591050"/>
            <a:ext cx="1714457" cy="419100"/>
          </a:xfrm>
          <a:prstGeom prst="roundRect">
            <a:avLst>
              <a:gd name="adj" fmla="val 45450000"/>
            </a:avLst>
          </a:prstGeom>
          <a:solidFill>
            <a:srgbClr val="00BC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92467" y="4622473"/>
            <a:ext cx="1416863" cy="3302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AI Fashion Stylist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7" y="5124449"/>
            <a:ext cx="1952576" cy="419100"/>
          </a:xfrm>
          <a:prstGeom prst="roundRect">
            <a:avLst>
              <a:gd name="adj" fmla="val 45450000"/>
            </a:avLst>
          </a:prstGeom>
          <a:solidFill>
            <a:srgbClr val="00BC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78677" y="5168857"/>
            <a:ext cx="1567865" cy="3302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Demand Prediction</a:t>
            </a:r>
          </a:p>
        </p:txBody>
      </p:sp>
      <p:sp>
        <p:nvSpPr>
          <p:cNvPr id="24" name="Rounded Rectangle 19">
            <a:extLst>
              <a:ext uri="{FF2B5EF4-FFF2-40B4-BE49-F238E27FC236}">
                <a16:creationId xmlns:a16="http://schemas.microsoft.com/office/drawing/2014/main" id="{A95A5BD8-4A02-B40A-25F4-C7DF9CBA01F4}"/>
              </a:ext>
            </a:extLst>
          </p:cNvPr>
          <p:cNvSpPr/>
          <p:nvPr/>
        </p:nvSpPr>
        <p:spPr>
          <a:xfrm>
            <a:off x="8143669" y="5119325"/>
            <a:ext cx="2355004" cy="440905"/>
          </a:xfrm>
          <a:prstGeom prst="roundRect">
            <a:avLst>
              <a:gd name="adj" fmla="val 45450000"/>
            </a:avLst>
          </a:prstGeom>
          <a:solidFill>
            <a:srgbClr val="00BC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D5DA5E-4E1C-6A3C-7E09-E1C05043B062}"/>
              </a:ext>
            </a:extLst>
          </p:cNvPr>
          <p:cNvSpPr txBox="1"/>
          <p:nvPr/>
        </p:nvSpPr>
        <p:spPr>
          <a:xfrm>
            <a:off x="8166531" y="5154379"/>
            <a:ext cx="231178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</a:t>
            </a:r>
            <a:r>
              <a:rPr lang="en-MY" sz="1500" b="0" dirty="0" err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etecting</a:t>
            </a:r>
            <a:r>
              <a:rPr lang="en-MY" sz="1500" dirty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MY" sz="1500" b="0" dirty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slow-moving items</a:t>
            </a:r>
            <a:endParaRPr sz="1500" b="0" dirty="0">
              <a:solidFill>
                <a:srgbClr val="00BCD4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584" y="457200"/>
            <a:ext cx="1057248" cy="266699"/>
          </a:xfrm>
          <a:prstGeom prst="roundRect">
            <a:avLst>
              <a:gd name="adj" fmla="val 71421428"/>
            </a:avLst>
          </a:prstGeom>
          <a:solidFill>
            <a:srgbClr val="FF6B9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8400" y="465860"/>
            <a:ext cx="939616" cy="26988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OUR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129354"/>
            <a:ext cx="6562181" cy="58926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705"/>
              </a:lnSpc>
              <a:spcBef>
                <a:spcPts val="0"/>
              </a:spcBef>
              <a:spcAft>
                <a:spcPts val="2080"/>
              </a:spcAft>
            </a:pPr>
            <a:r>
              <a:rPr sz="3600" b="1">
                <a:solidFill>
                  <a:srgbClr val="2D2D2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From Intuition to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239077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F6B9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4832" y="2508436"/>
            <a:ext cx="190495" cy="145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2971" y="2358310"/>
            <a:ext cx="1370568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71" y="2712504"/>
            <a:ext cx="5562460" cy="5566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Store owners rely on gut feelings rather than data. Fragmented information across notebooks and spreadsheets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347662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00BC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32" y="3613897"/>
            <a:ext cx="190495" cy="1064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2971" y="3444160"/>
            <a:ext cx="1428468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71" y="3798353"/>
            <a:ext cx="5562460" cy="5566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Reduce capital trapped in deadstock. </a:t>
            </a:r>
            <a:r>
              <a:rPr lang="en-MY" sz="12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Minimise</a:t>
            </a:r>
            <a:r>
              <a:rPr sz="12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textile waste. Compete with large corporations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56247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F6B9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832" y="4673133"/>
            <a:ext cx="190495" cy="1596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2971" y="4530011"/>
            <a:ext cx="1559851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Strategic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2971" y="4884204"/>
            <a:ext cx="5562460" cy="5566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AI-driven real-time insights. Faster </a:t>
            </a:r>
            <a:r>
              <a:rPr lang="en-MY" sz="12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&amp; clearer </a:t>
            </a:r>
            <a:r>
              <a:rPr sz="12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decision-making. Sustainable fashion ecosystem.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blipFill>
            <a:blip r:embed="rId5"/>
            <a:stretch>
              <a:fillRect l="-1" r="-113311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15017" y="5524499"/>
            <a:ext cx="4876678" cy="1333500"/>
          </a:xfrm>
          <a:prstGeom prst="rect">
            <a:avLst/>
          </a:prstGeom>
          <a:gradFill rotWithShape="1">
            <a:gsLst>
              <a:gs pos="0">
                <a:srgbClr val="00BCD4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205" y="5877043"/>
            <a:ext cx="1539973" cy="32361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200" b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Transform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205" y="6212980"/>
            <a:ext cx="2502545" cy="2994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From manual tracking to intelligent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gradFill rotWithShape="1">
            <a:gsLst>
              <a:gs pos="0">
                <a:srgbClr val="FF6B9D"/>
              </a:gs>
              <a:gs pos="100000">
                <a:srgbClr val="00BC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353164"/>
            <a:ext cx="761980" cy="608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584" y="2319539"/>
            <a:ext cx="4107559" cy="121879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r>
              <a:rPr lang="en-MY" sz="3600" b="1" dirty="0">
                <a:solidFill>
                  <a:schemeClr val="bg1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Turn </a:t>
            </a:r>
            <a:r>
              <a:rPr lang="en-MY" sz="36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</a:t>
            </a:r>
            <a:r>
              <a:rPr lang="en-MY" sz="3600" b="1" dirty="0">
                <a:solidFill>
                  <a:schemeClr val="bg1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eadstock </a:t>
            </a:r>
            <a:r>
              <a:rPr lang="en-MY" sz="36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</a:t>
            </a:r>
            <a:r>
              <a:rPr lang="en-MY" sz="3600" b="1" dirty="0">
                <a:solidFill>
                  <a:schemeClr val="bg1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nto Revenue</a:t>
            </a:r>
            <a:endParaRPr lang="en-MY" sz="36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584" y="3752849"/>
            <a:ext cx="914377" cy="381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584" y="4098684"/>
            <a:ext cx="3657508" cy="67993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080"/>
              </a:spcAft>
            </a:pPr>
            <a:r>
              <a:rPr b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Your AI-Powered Inventory &amp; Styling Partner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5086350"/>
            <a:ext cx="3657508" cy="495299"/>
          </a:xfrm>
          <a:prstGeom prst="roundRect">
            <a:avLst>
              <a:gd name="adj" fmla="val 30769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9" y="5236845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2971" y="5168859"/>
            <a:ext cx="2490554" cy="3302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Eliminate Waste • Increase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262" y="160972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F6B9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1985" y="1720935"/>
            <a:ext cx="209544" cy="1585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81550" y="1610173"/>
            <a:ext cx="129548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Main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262" y="2197448"/>
            <a:ext cx="6095847" cy="93910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Eliminate financial waste from unsold stock while increasing sales through intelligent size and style-based customer matching from existing inventory</a:t>
            </a:r>
            <a:r>
              <a:rPr lang="en-MY" sz="15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to create attractive bundles</a:t>
            </a:r>
            <a:endParaRPr sz="1500" b="0" dirty="0">
              <a:solidFill>
                <a:srgbClr val="4A4A4A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262" y="353377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00BC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1985" y="3664808"/>
            <a:ext cx="209544" cy="11893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1550" y="3534223"/>
            <a:ext cx="181742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Intended Users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6262" y="4181060"/>
            <a:ext cx="266693" cy="1913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67253" y="4111584"/>
            <a:ext cx="1807867" cy="3302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SME Fashion Retailers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86582" y="4163667"/>
            <a:ext cx="266693" cy="2261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67573" y="4111584"/>
            <a:ext cx="2091919" cy="3302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Store/Inventory Managers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86262" y="4588565"/>
            <a:ext cx="266693" cy="21451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67253" y="4530684"/>
            <a:ext cx="1325876" cy="3302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Production Staff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86582" y="4582767"/>
            <a:ext cx="266693" cy="2261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67573" y="4530684"/>
            <a:ext cx="1473545" cy="3302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Online Customers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86262" y="5001867"/>
            <a:ext cx="266693" cy="2261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67253" y="4949783"/>
            <a:ext cx="1625830" cy="3302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Small Online Sellers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686582" y="4996069"/>
            <a:ext cx="266693" cy="2377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67573" y="4949783"/>
            <a:ext cx="1517980" cy="3302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Fabric Wholesalers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FF6B9D"/>
              </a:gs>
              <a:gs pos="100000">
                <a:srgbClr val="00BCD4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584" y="116350"/>
            <a:ext cx="3445110" cy="567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System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895" y="1210605"/>
            <a:ext cx="3539687" cy="3949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0"/>
              </a:spcAft>
            </a:pPr>
            <a:r>
              <a:rPr lang="en-MY" b="1" dirty="0">
                <a:latin typeface="Baskerville" panose="02020502070401020303" pitchFamily="18" charset="0"/>
                <a:ea typeface="Baskerville" panose="02020502070401020303" pitchFamily="18" charset="0"/>
              </a:rPr>
              <a:t>Powerful Features for Fashion Retail </a:t>
            </a:r>
            <a:endParaRPr b="1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9584" y="1892561"/>
            <a:ext cx="2933626" cy="2171700"/>
          </a:xfrm>
          <a:prstGeom prst="roundRect">
            <a:avLst>
              <a:gd name="adj" fmla="val 7017"/>
            </a:avLst>
          </a:prstGeom>
          <a:solidFill>
            <a:srgbClr val="FF6B9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410226" y="2912371"/>
            <a:ext cx="2171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6278" y="2281116"/>
            <a:ext cx="342891" cy="289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33466" y="2107316"/>
            <a:ext cx="1846538" cy="63729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Smart Inventory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78" y="2851371"/>
            <a:ext cx="2202719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b="0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•</a:t>
            </a:r>
            <a:r>
              <a:rPr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Real-time stock tracking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278" y="3194271"/>
            <a:ext cx="1992853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b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•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Sales pattern analysis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78" y="3537170"/>
            <a:ext cx="2181944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b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•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Overstock identification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1805" y="1892561"/>
            <a:ext cx="2933626" cy="2171700"/>
          </a:xfrm>
          <a:prstGeom prst="roundRect">
            <a:avLst>
              <a:gd name="adj" fmla="val 7017"/>
            </a:avLst>
          </a:prstGeom>
          <a:solidFill>
            <a:srgbClr val="00BC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2751995" y="2912371"/>
            <a:ext cx="2171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499" y="2281116"/>
            <a:ext cx="342891" cy="2896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95687" y="2107316"/>
            <a:ext cx="1981150" cy="63729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Conversational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8499" y="2851371"/>
            <a:ext cx="2238049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b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•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Natural English prompts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8499" y="3194271"/>
            <a:ext cx="1624291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b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•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Easy interaction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8499" y="3537170"/>
            <a:ext cx="1564787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b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•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Intuitive design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292862"/>
            <a:ext cx="2933626" cy="2171700"/>
          </a:xfrm>
          <a:prstGeom prst="roundRect">
            <a:avLst>
              <a:gd name="adj" fmla="val 7017"/>
            </a:avLst>
          </a:prstGeom>
          <a:solidFill>
            <a:srgbClr val="00BC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410226" y="5312672"/>
            <a:ext cx="2171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278" y="4674026"/>
            <a:ext cx="342891" cy="30447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33466" y="4642622"/>
            <a:ext cx="1971950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AI Outfit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278" y="5250356"/>
            <a:ext cx="2549224" cy="332912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b="0" dirty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•</a:t>
            </a:r>
            <a:r>
              <a:rPr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Outfit combinations</a:t>
            </a:r>
            <a:r>
              <a:rPr lang="en-MY"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/ bundles</a:t>
            </a:r>
            <a:endParaRPr sz="1400" b="0" dirty="0">
              <a:solidFill>
                <a:srgbClr val="4A4A4A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6278" y="5594570"/>
            <a:ext cx="2160271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b="0" dirty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•</a:t>
            </a:r>
            <a:r>
              <a:rPr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From existing inventory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278" y="5937470"/>
            <a:ext cx="1987788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b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•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Convert unsold items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71805" y="4292862"/>
            <a:ext cx="2933626" cy="2171700"/>
          </a:xfrm>
          <a:prstGeom prst="roundRect">
            <a:avLst>
              <a:gd name="adj" fmla="val 7017"/>
            </a:avLst>
          </a:prstGeom>
          <a:solidFill>
            <a:srgbClr val="FF6B9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2751995" y="5312672"/>
            <a:ext cx="2171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8499" y="4734624"/>
            <a:ext cx="342891" cy="18327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95687" y="4642622"/>
            <a:ext cx="2044983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Demand 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8499" y="5251670"/>
            <a:ext cx="1535228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b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•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Forecast trends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8499" y="5594570"/>
            <a:ext cx="2095445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b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•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Restocking suggestions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8499" y="5937470"/>
            <a:ext cx="1824538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b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•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Bundling strategies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205" y="1123949"/>
            <a:ext cx="3940302" cy="5410201"/>
          </a:xfrm>
          <a:prstGeom prst="roundRect">
            <a:avLst/>
          </a:prstGeom>
          <a:blipFill>
            <a:blip r:embed="rId6"/>
            <a:stretch>
              <a:fillRect l="-139400" r="-140392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772205" y="5962650"/>
            <a:ext cx="3962300" cy="571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6B9D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00799" y="6088228"/>
            <a:ext cx="1806841" cy="320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AI-Powered Styling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FF6B9D"/>
              </a:gs>
              <a:gs pos="100000">
                <a:srgbClr val="00BCD4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584" y="109425"/>
            <a:ext cx="2451120" cy="581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638299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FF6B9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3998" y="1919003"/>
            <a:ext cx="647870" cy="53155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73674"/>
            <a:ext cx="2581156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040"/>
              </a:spcAft>
            </a:pPr>
            <a:r>
              <a:rPr sz="2000"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Real-Time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3429000"/>
            <a:ext cx="3457488" cy="2590799"/>
          </a:xfrm>
          <a:prstGeom prst="roundRect">
            <a:avLst>
              <a:gd name="adj" fmla="val 5882"/>
            </a:avLst>
          </a:prstGeom>
          <a:solidFill>
            <a:srgbClr val="FF6B9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179" y="3888058"/>
            <a:ext cx="3000299" cy="330283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dirty="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Monitor stock levels instantly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179" y="3964886"/>
            <a:ext cx="266693" cy="2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179" y="4311609"/>
            <a:ext cx="2066463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Analyze sales patterns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79" y="4372389"/>
            <a:ext cx="266693" cy="2087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8179" y="4730709"/>
            <a:ext cx="2417457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Identify slow-moving items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79" y="4787140"/>
            <a:ext cx="266693" cy="2174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179" y="5149808"/>
            <a:ext cx="2143279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Proactive management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179" y="5220735"/>
            <a:ext cx="266693" cy="18842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371865" y="1638299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00BC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28180" y="1919003"/>
            <a:ext cx="647870" cy="53155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1865" y="2673674"/>
            <a:ext cx="2645211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040"/>
              </a:spcAft>
            </a:pPr>
            <a:r>
              <a:rPr sz="2000"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AI Outfit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1865" y="3429000"/>
            <a:ext cx="3457488" cy="2590799"/>
          </a:xfrm>
          <a:prstGeom prst="roundRect">
            <a:avLst>
              <a:gd name="adj" fmla="val 5882"/>
            </a:avLst>
          </a:prstGeom>
          <a:solidFill>
            <a:srgbClr val="00BC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00459" y="3888059"/>
            <a:ext cx="3000299" cy="330283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dirty="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Match unsold with trending items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0459" y="3942782"/>
            <a:ext cx="266693" cy="23771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00459" y="4311609"/>
            <a:ext cx="2135072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Create sellable bundles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00459" y="4366591"/>
            <a:ext cx="266693" cy="22031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00459" y="4730709"/>
            <a:ext cx="2370457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Turn deadstock into profit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00459" y="4782792"/>
            <a:ext cx="266693" cy="2261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00459" y="5149808"/>
            <a:ext cx="2313454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Increase customer appeal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00459" y="5201892"/>
            <a:ext cx="266693" cy="226115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124621" y="1638299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FF6B9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90461" y="1919003"/>
            <a:ext cx="647870" cy="53155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4621" y="2641455"/>
            <a:ext cx="3557320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040"/>
              </a:spcAft>
            </a:pPr>
            <a:r>
              <a:rPr sz="2000" b="1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Str</a:t>
            </a:r>
            <a:r>
              <a:rPr lang="en-MY" sz="2000" b="1" dirty="0" err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ategic</a:t>
            </a:r>
            <a:r>
              <a:rPr lang="en-MY" sz="2000" b="1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Sales</a:t>
            </a:r>
            <a:r>
              <a:rPr sz="2000" b="1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Recommendations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4621" y="3429000"/>
            <a:ext cx="3457488" cy="2590799"/>
          </a:xfrm>
          <a:prstGeom prst="roundRect">
            <a:avLst>
              <a:gd name="adj" fmla="val 6779"/>
            </a:avLst>
          </a:prstGeom>
          <a:solidFill>
            <a:srgbClr val="FF6B9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53522" y="3888058"/>
            <a:ext cx="2117759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Predict demand trends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53522" y="4015973"/>
            <a:ext cx="266693" cy="14494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53522" y="4311644"/>
            <a:ext cx="3000299" cy="330283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 dirty="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sz="14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Optimize restocking decisions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53522" y="4371596"/>
            <a:ext cx="266693" cy="20872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53522" y="4736468"/>
            <a:ext cx="2372637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Reduce waste significantly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53522" y="4805944"/>
            <a:ext cx="266693" cy="1913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53522" y="5155567"/>
            <a:ext cx="2371931" cy="330283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400"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Maximize revenue growth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353522" y="5216348"/>
            <a:ext cx="266693" cy="20872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011BD3B-3C2D-44FA-A17C-B4FB25209E6B}"/>
              </a:ext>
            </a:extLst>
          </p:cNvPr>
          <p:cNvSpPr txBox="1"/>
          <p:nvPr/>
        </p:nvSpPr>
        <p:spPr>
          <a:xfrm>
            <a:off x="561567" y="945136"/>
            <a:ext cx="4555991" cy="3949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0"/>
              </a:spcAft>
            </a:pPr>
            <a:r>
              <a:rPr lang="en-MY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MY" b="1" dirty="0">
                <a:solidFill>
                  <a:srgbClr val="2D2D2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Just a simple prompt turns into smart decisions </a:t>
            </a:r>
            <a:endParaRPr b="1" dirty="0">
              <a:solidFill>
                <a:srgbClr val="2D2D2D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FF6B9D"/>
              </a:gs>
              <a:gs pos="100000">
                <a:srgbClr val="00BCD4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584" y="109425"/>
            <a:ext cx="2231637" cy="581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235399"/>
            <a:ext cx="3077189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0"/>
              </a:spcAft>
            </a:pPr>
            <a:r>
              <a:rPr sz="2000" b="1" dirty="0">
                <a:solidFill>
                  <a:srgbClr val="2D2D2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Real-World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666758"/>
            <a:ext cx="4876678" cy="2305049"/>
          </a:xfrm>
          <a:prstGeom prst="roundRect">
            <a:avLst>
              <a:gd name="adj" fmla="val 6611"/>
            </a:avLst>
          </a:prstGeom>
          <a:solidFill>
            <a:srgbClr val="FF6B9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459345" y="2753243"/>
            <a:ext cx="23050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76278" y="1895358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6B9D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1525" y="2028294"/>
            <a:ext cx="266693" cy="191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47763" y="1933907"/>
            <a:ext cx="1934889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Fashion Retailer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278" y="2678608"/>
            <a:ext cx="4381390" cy="890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I want to identify </a:t>
            </a:r>
            <a:r>
              <a:rPr sz="1400"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slow-moving stock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and receive AI-suggested pairing combinations with trending items, so I can predict demand and restock strategically.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4276609"/>
            <a:ext cx="4876678" cy="2305049"/>
          </a:xfrm>
          <a:prstGeom prst="roundRect">
            <a:avLst>
              <a:gd name="adj" fmla="val 6611"/>
            </a:avLst>
          </a:prstGeom>
          <a:solidFill>
            <a:srgbClr val="00BC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459345" y="5363094"/>
            <a:ext cx="23050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76278" y="450520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0BC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25" y="4638144"/>
            <a:ext cx="266693" cy="191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47763" y="4543757"/>
            <a:ext cx="1970732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Fashion Shopper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78" y="5288457"/>
            <a:ext cx="4381390" cy="890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I want </a:t>
            </a:r>
            <a:r>
              <a:rPr sz="1400"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personalized outfit recommendations</a:t>
            </a:r>
            <a:r>
              <a:rPr sz="14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based on local trends and my style preferences, so I can make confident purchasing decisions.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3036" y="1524001"/>
            <a:ext cx="5181470" cy="5174376"/>
          </a:xfrm>
          <a:prstGeom prst="roundRect">
            <a:avLst/>
          </a:prstGeom>
          <a:blipFill>
            <a:blip r:embed="rId4"/>
            <a:stretch>
              <a:fillRect l="-37590" t="-40156" r="-201430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53036" y="6134100"/>
            <a:ext cx="5181470" cy="571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CD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81630" y="6258043"/>
            <a:ext cx="1874296" cy="32361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AI-Powered Virtual Try-On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FF6B9D"/>
              </a:gs>
              <a:gs pos="100000">
                <a:srgbClr val="00BCD4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584" y="102596"/>
            <a:ext cx="4795619" cy="59490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Features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169" y="1208242"/>
            <a:ext cx="2714869" cy="41376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080"/>
              </a:spcAft>
            </a:pPr>
            <a:r>
              <a:rPr sz="2400" b="1" dirty="0">
                <a:solidFill>
                  <a:srgbClr val="2D2D2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What We Deliver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71169" y="1926546"/>
            <a:ext cx="304792" cy="2344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39286" y="1861111"/>
            <a:ext cx="3865917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AI-powered inventory analytics dashboard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9988" y="1970177"/>
            <a:ext cx="304792" cy="216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18104" y="1780534"/>
            <a:ext cx="3191510" cy="5724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160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All-in-one system (inventory, styling, AI support</a:t>
            </a:r>
            <a:endParaRPr sz="1600" b="0" dirty="0">
              <a:solidFill>
                <a:srgbClr val="4A4A4A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1169" y="2600623"/>
            <a:ext cx="304792" cy="2579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39286" y="2546911"/>
            <a:ext cx="3832420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Outfit recommendation engine from stock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9988" y="2636927"/>
            <a:ext cx="304792" cy="2549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18104" y="2581750"/>
            <a:ext cx="3267436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Demand prediction and stock alerts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169" y="3286423"/>
            <a:ext cx="304792" cy="2579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39286" y="3232711"/>
            <a:ext cx="3481818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Customer personalized style matching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9988" y="3321262"/>
            <a:ext cx="304792" cy="2579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18104" y="3267550"/>
            <a:ext cx="3810087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Conversational natural language 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5692" y="4168441"/>
            <a:ext cx="9832499" cy="2171700"/>
          </a:xfrm>
          <a:prstGeom prst="roundRect">
            <a:avLst>
              <a:gd name="adj" fmla="val 7017"/>
            </a:avLst>
          </a:prstGeom>
          <a:solidFill>
            <a:srgbClr val="00BC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27202" y="4442965"/>
            <a:ext cx="342891" cy="30742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76943" y="4418057"/>
            <a:ext cx="2187419" cy="38010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Key Benefits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9286" y="4996641"/>
            <a:ext cx="263149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8130" y="4995648"/>
            <a:ext cx="4611148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Reduce waste</a:t>
            </a:r>
            <a:r>
              <a:rPr sz="1600" b="0" dirty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and deadstock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4996641"/>
            <a:ext cx="263149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972" y="4995648"/>
            <a:ext cx="5561229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Increase sales</a:t>
            </a:r>
            <a:r>
              <a:rPr sz="16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with smart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9286" y="5682441"/>
            <a:ext cx="263149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6682" y="5681448"/>
            <a:ext cx="5181196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BCD4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Optimize inventory</a:t>
            </a:r>
            <a:r>
              <a:rPr sz="16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in real-time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0" y="5682441"/>
            <a:ext cx="263149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2476" y="5681448"/>
            <a:ext cx="4682852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9D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Improve</a:t>
            </a:r>
            <a:r>
              <a:rPr sz="1600" b="0">
                <a:solidFill>
                  <a:srgbClr val="4A4A4A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customer satisfaction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6B9D"/>
            </a:gs>
            <a:gs pos="100000">
              <a:srgbClr val="00BCD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010224" y="761999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1980" y="3047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4857" y="880601"/>
            <a:ext cx="761980" cy="639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65176" y="1941873"/>
            <a:ext cx="3261342" cy="7263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2080"/>
              </a:spcAft>
            </a:pPr>
            <a:r>
              <a:rPr sz="4800" b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470" y="2952750"/>
            <a:ext cx="1828754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98052" y="3340425"/>
            <a:ext cx="5195589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3120"/>
              </a:spcAft>
            </a:pPr>
            <a:r>
              <a:rPr sz="2000" b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Transforming Fashion Retail with AI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9924" y="4171950"/>
            <a:ext cx="418137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34620" y="4362898"/>
            <a:ext cx="1131977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lang="en-MY" b="1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CloThinks</a:t>
            </a:r>
            <a:endParaRPr b="1" dirty="0">
              <a:solidFill>
                <a:srgbClr val="FFFFFF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10293" y="4749758"/>
            <a:ext cx="2780633" cy="3302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Empowering SME Fashion Retailers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636" y="6154392"/>
            <a:ext cx="266693" cy="2261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32307" y="6105643"/>
            <a:ext cx="1164678" cy="32361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Smart Inventory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2856" y="6153149"/>
            <a:ext cx="38099" cy="2286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8143" y="6148594"/>
            <a:ext cx="266693" cy="2377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28434" y="6105643"/>
            <a:ext cx="772904" cy="32361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AI Styling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7828" y="6153149"/>
            <a:ext cx="38099" cy="2286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3116" y="6194977"/>
            <a:ext cx="266693" cy="14494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8804" y="6105643"/>
            <a:ext cx="1555555" cy="32361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Data-Driven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553</Words>
  <Application>Microsoft Macintosh PowerPoint</Application>
  <PresentationFormat>Widescreen</PresentationFormat>
  <Paragraphs>133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Baskerville</vt:lpstr>
      <vt:lpstr>Calibri</vt:lpstr>
      <vt:lpstr>Courier New</vt:lpstr>
      <vt:lpstr>Helvetica Neue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jolin chong</cp:lastModifiedBy>
  <cp:revision>5</cp:revision>
  <dcterms:created xsi:type="dcterms:W3CDTF">2013-01-27T09:14:16Z</dcterms:created>
  <dcterms:modified xsi:type="dcterms:W3CDTF">2026-04-25T13:34:42Z</dcterms:modified>
  <cp:category/>
</cp:coreProperties>
</file>